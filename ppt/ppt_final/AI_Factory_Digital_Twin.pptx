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 Billion. Every Single Day.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371600" y="21945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 ·  Meta  ·  Amazon  ·  Google  ·  Oracle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data center spend in 2025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2026: nearly $2 billion/day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 infrastructure buildout since the electric grid.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sustainable AI framework governs how it operates.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Factory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45720" cy="128016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"Data centers are factories — AI factories that take in raw data and produce intelligence."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Jensen Huang, CEO, NVIDIA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token  &gt;  a GPU  &gt;  a rack  &gt;  power from a grid  &gt;  cooled by water  &gt;  in someone's community.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Scale of the Buildout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2011680"/>
                <a:gridCol w="21945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Company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Amazon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$59B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$100B+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$52B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$175-185B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Microsoft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$44B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$120B+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$37B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$60-65B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$115-135B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Oracle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$12-15B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$40B+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$355B+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$690-750B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3931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Capex/sales 2026:  Oracle 86%  ·  Meta 54%  ·  Microsoft 47%  ·  Google 46%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Quadrupled since GPT-4. Aggregate capex now exceeds free cash flow.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Environmental Footprint of Computation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840480" cy="1371600"/>
          </a:xfrm>
          <a:prstGeom prst="rect">
            <a:avLst>
              <a:gd name="adj" fmla="val 6667"/>
            </a:avLst>
          </a:prstGeom>
          <a:solidFill>
            <a:srgbClr val="14192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173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460 TWh/yr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1,000+ TWh by 2026 (more than Japan)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3840480" cy="1371600"/>
          </a:xfrm>
          <a:prstGeom prst="rect">
            <a:avLst>
              <a:gd name="adj" fmla="val 6667"/>
            </a:avLst>
          </a:prstGeom>
          <a:solidFill>
            <a:srgbClr val="14192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4173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5.6B gallons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937760" y="2194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alone, 2023. +17% YoY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3840480" cy="1371600"/>
          </a:xfrm>
          <a:prstGeom prst="rect">
            <a:avLst>
              <a:gd name="adj" fmla="val 6667"/>
            </a:avLst>
          </a:prstGeom>
          <a:solidFill>
            <a:srgbClr val="14192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063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3375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+48%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14400" y="3840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emissions 2019-2023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926080"/>
            <a:ext cx="3840480" cy="1371600"/>
          </a:xfrm>
          <a:prstGeom prst="rect">
            <a:avLst>
              <a:gd name="adj" fmla="val 6667"/>
            </a:avLst>
          </a:prstGeom>
          <a:solidFill>
            <a:srgbClr val="14192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063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E-Waste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33375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1.2-5M tons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937760" y="3840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e-waste by 2030. GPU life: 18-24 months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460 TWh/year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data center electricity consumption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Ireland: 21% of national electricity = data centers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AI query = 5-10x electricity of a Google search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Utilities delaying coal plant retirements for DC demand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1,000+ TWh by 2026 — more than Japan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 Billion Gallons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Google, 2023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GPT-4 prompts = 500ml water (one bottle)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Dalles, OR (pop. 15K): Google uses 25-30% of city water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Microsoft: +34% water since 2021.  Meta: +24%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3 hyperscalers pledged water reduction. All 3 went the opposite direction.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Emissions &amp; Hardware Waste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840480" cy="3108960"/>
          </a:xfrm>
          <a:prstGeom prst="rect">
            <a:avLst>
              <a:gd name="adj" fmla="val 2941"/>
            </a:avLst>
          </a:prstGeom>
          <a:solidFill>
            <a:srgbClr val="14192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25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 training: 5,000-10,000t CO2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500 transatlantic flights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Google: +48% emissions (2019-23)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200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60-70% of ML energy = inference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3840480" cy="3108960"/>
          </a:xfrm>
          <a:prstGeom prst="rect">
            <a:avLst>
              <a:gd name="adj" fmla="val 2941"/>
            </a:avLst>
          </a:prstGeom>
          <a:solidFill>
            <a:srgbClr val="14192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325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E-Waste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120640" y="1828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e-waste: 1.2-5M tons by 2030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2286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obsolescence: 18-24 months (was 5yr)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20640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Contains rare earths, gold, lead, mercury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3200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Cobalt/lithium mining: child labor, toxic runoff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Pays the Price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840480" cy="2743200"/>
          </a:xfrm>
          <a:prstGeom prst="rect">
            <a:avLst>
              <a:gd name="adj" fmla="val 3333"/>
            </a:avLst>
          </a:prstGeom>
          <a:solidFill>
            <a:srgbClr val="14192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25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Communities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Prince William County, VA: displaced Black/Latino neighborhoods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Chicago: DC-adjacent = 23% lower income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27432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$500M+ facility &gt; 30-50 permanent jobs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32004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Virginia: $750M tax breaks — lowest job-to-subsidy ratio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3840480" cy="2743200"/>
          </a:xfrm>
          <a:prstGeom prst="rect">
            <a:avLst>
              <a:gd name="adj" fmla="val 3333"/>
            </a:avLst>
          </a:prstGeom>
          <a:solidFill>
            <a:srgbClr val="14192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325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20640" y="18288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Cobalt (DRC): child labor, deforestation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0" y="22860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Lithium (Chile): depleting driest aquifers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0" y="27432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E-waste exported to Ghana, Nigeria, India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0640" y="32004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DCs compete with agriculture in drought regions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borne at every stage: extraction &gt; operation &gt; disposal. Upside rarely shared.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Gets Worse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97280" y="1280160"/>
            <a:ext cx="2194560" cy="731520"/>
          </a:xfrm>
          <a:prstGeom prst="rect">
            <a:avLst>
              <a:gd name="adj" fmla="val 12500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371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capable models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0" y="1417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0" y="1280160"/>
            <a:ext cx="2194560" cy="731520"/>
          </a:xfrm>
          <a:prstGeom prst="rect">
            <a:avLst>
              <a:gd name="adj" fmla="val 12500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0" y="1371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users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52160" y="1417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2194560" cy="731520"/>
          </a:xfrm>
          <a:prstGeom prst="rect">
            <a:avLst>
              <a:gd name="adj" fmla="val 12500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371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inference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97280" y="2468880"/>
            <a:ext cx="2194560" cy="731520"/>
          </a:xfrm>
          <a:prstGeom prst="rect">
            <a:avLst>
              <a:gd name="adj" fmla="val 12500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5603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data centers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6060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57600" y="2468880"/>
            <a:ext cx="2194560" cy="731520"/>
          </a:xfrm>
          <a:prstGeom prst="rect">
            <a:avLst>
              <a:gd name="adj" fmla="val 12500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25603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electricity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52160" y="26060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217920" y="2468880"/>
            <a:ext cx="2194560" cy="731520"/>
          </a:xfrm>
          <a:prstGeom prst="rect">
            <a:avLst>
              <a:gd name="adj" fmla="val 12500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5603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water &amp; carbon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97280" y="3657600"/>
            <a:ext cx="2194560" cy="731520"/>
          </a:xfrm>
          <a:prstGeom prst="rect">
            <a:avLst>
              <a:gd name="adj" fmla="val 12500"/>
            </a:avLst>
          </a:prstGeom>
          <a:solidFill>
            <a:srgbClr val="14192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37490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worsens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91840" y="37947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657600" y="3657600"/>
            <a:ext cx="2194560" cy="731520"/>
          </a:xfrm>
          <a:prstGeom prst="rect">
            <a:avLst>
              <a:gd name="adj" fmla="val 12500"/>
            </a:avLst>
          </a:prstGeom>
          <a:solidFill>
            <a:srgbClr val="14192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37490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AI climate solutions needed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52160" y="37947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217920" y="3657600"/>
            <a:ext cx="2194560" cy="731520"/>
          </a:xfrm>
          <a:prstGeom prst="rect">
            <a:avLst>
              <a:gd name="adj" fmla="val 12500"/>
            </a:avLst>
          </a:prstGeom>
          <a:solidFill>
            <a:srgbClr val="14192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37490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compute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20-30 year facility lifetimes. Decisions made now = emissions through 2050.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 Are Flying Blind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 data lives in annual reports and disconnected dashboards.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in the operational loop. Never at the moment of decision.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0" y="3291840"/>
            <a:ext cx="6400800" cy="27432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can't optimize what you can't see.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i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can't be accountable for what you don't acknowledge."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Sustainable AI Framework for the AI Factory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3D digital twin. Makes the environmental footprint of computation visible, quantifiable, and non-dismissable.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7863840" cy="594360"/>
          </a:xfrm>
          <a:prstGeom prst="rect">
            <a:avLst>
              <a:gd name="adj" fmla="val 15385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74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Infrastructure Layers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·  Cooling  ·  GPU  ·  Workload  ·  Location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7863840" cy="594360"/>
          </a:xfrm>
          <a:prstGeom prst="rect">
            <a:avLst>
              <a:gd name="adj" fmla="val 15385"/>
            </a:avLst>
          </a:prstGeom>
          <a:solidFill>
            <a:srgbClr val="14192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060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Simulation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6060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WebSocket-driven, 2-second updates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7863840" cy="594360"/>
          </a:xfrm>
          <a:prstGeom prst="rect">
            <a:avLst>
              <a:gd name="adj" fmla="val 15385"/>
            </a:avLst>
          </a:prstGeom>
          <a:solidFill>
            <a:srgbClr val="14192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337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What-If Scenarios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3375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decisions before committing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7863840" cy="594360"/>
          </a:xfrm>
          <a:prstGeom prst="rect">
            <a:avLst>
              <a:gd name="adj" fmla="val 15385"/>
            </a:avLst>
          </a:prstGeom>
          <a:solidFill>
            <a:srgbClr val="14192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069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Tradeoff Gate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0690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requires sustainability acknowledgment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Operator Journey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457200" cy="4572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twin + live metrics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74520" y="1371600"/>
            <a:ext cx="457200" cy="4572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20116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45920" y="23774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 drops, water spikes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63240" y="1371600"/>
            <a:ext cx="457200" cy="4572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2" name="Text 10"/>
          <p:cNvSpPr/>
          <p:nvPr/>
        </p:nvSpPr>
        <p:spPr>
          <a:xfrm>
            <a:off x="30632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34640" y="20116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34640" y="23774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Cross-layer cascading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51960" y="1371600"/>
            <a:ext cx="457200" cy="4572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6" name="Text 14"/>
          <p:cNvSpPr/>
          <p:nvPr/>
        </p:nvSpPr>
        <p:spPr>
          <a:xfrm>
            <a:off x="425196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023360" y="20116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023360" y="23774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What-if scenarios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40680" y="1371600"/>
            <a:ext cx="457200" cy="4572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0" name="Text 18"/>
          <p:cNvSpPr/>
          <p:nvPr/>
        </p:nvSpPr>
        <p:spPr>
          <a:xfrm>
            <a:off x="54406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12080" y="20116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12080" y="23774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an action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29400" y="137160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00800" y="20116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0" y="23774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Forced sustainability modal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818120" y="1371600"/>
            <a:ext cx="457200" cy="4572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8" name="Text 26"/>
          <p:cNvSpPr/>
          <p:nvPr/>
        </p:nvSpPr>
        <p:spPr>
          <a:xfrm>
            <a:off x="78181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589520" y="20116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589520" y="23774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stored permanently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463040" y="1417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651760" y="1417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840480" y="1417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029200" y="1417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217920" y="1417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406640" y="1417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200400" y="38404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0" cy="2560320"/>
          </a:xfrm>
          <a:prstGeom prst="rect">
            <a:avLst>
              <a:gd name="adj" fmla="val 3571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Engine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 loop (2s)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Cross-layer dependencies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971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evaluation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291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engine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0" y="1828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(2s)  &gt;&gt;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31920" y="2286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&lt;&lt;  REST API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1188720"/>
            <a:ext cx="3657600" cy="2560320"/>
          </a:xfrm>
          <a:prstGeom prst="rect">
            <a:avLst>
              <a:gd name="adj" fmla="val 3571"/>
            </a:avLst>
          </a:prstGeom>
          <a:solidFill>
            <a:srgbClr val="14192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1280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0" y="1691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Zustand Store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20116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Three Fiber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0" y="2331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Scene + Health colors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0" y="2651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60fps interpolation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0" y="2971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Gate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3291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Tradeoff modal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8229600" cy="457200"/>
          </a:xfrm>
          <a:prstGeom prst="rect">
            <a:avLst>
              <a:gd name="adj" fmla="val 20000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977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Types (single source of truth)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monorepo  ·  Node/Express  ·  React/Three.js  ·  Zustand  ·  WebSocket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560320" cy="2286000"/>
          </a:xfrm>
          <a:prstGeom prst="rect">
            <a:avLst>
              <a:gd name="adj" fmla="val 4000"/>
            </a:avLst>
          </a:prstGeom>
          <a:solidFill>
            <a:srgbClr val="141925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[SCREENSHOT]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3D twin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metrics across 5 layers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1280160"/>
            <a:ext cx="2560320" cy="2286000"/>
          </a:xfrm>
          <a:prstGeom prst="rect">
            <a:avLst>
              <a:gd name="adj" fmla="val 4000"/>
            </a:avLst>
          </a:prstGeom>
          <a:solidFill>
            <a:srgbClr val="141925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5544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[SCREENSHOT]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83280" y="2926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Forced sustainability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acknowledgment before any action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1280160"/>
            <a:ext cx="2560320" cy="2286000"/>
          </a:xfrm>
          <a:prstGeom prst="rect">
            <a:avLst>
              <a:gd name="adj" fmla="val 4000"/>
            </a:avLst>
          </a:prstGeom>
          <a:solidFill>
            <a:srgbClr val="141925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5544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[SCREENSHOT]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26480" y="2926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Cross-layer dependencies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scenario simulation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actual screenshots before presenting. Judges score Design (15%) on visual evidence.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 — Built In, Not Bolted 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7863840" cy="1097280"/>
          </a:xfrm>
          <a:prstGeom prst="rect">
            <a:avLst>
              <a:gd name="adj" fmla="val 8333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cooling setpoints  &gt;  </a:t>
            </a:r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"Saves 12% energy ($340K/yr), but increases water consumption 8% in drought-stressed region"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7863840" cy="1097280"/>
          </a:xfrm>
          <a:prstGeom prst="rect">
            <a:avLst>
              <a:gd name="adj" fmla="val 8333"/>
            </a:avLst>
          </a:prstGeom>
          <a:solidFill>
            <a:srgbClr val="14192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6517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workload to cheaper grid  &gt;  </a:t>
            </a:r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"Saves $18K/month, but increases carbon intensity 34% = 200 additional cars/year"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must acknowledge before commit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160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+ acknowledgment permanently logged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sustainability framework inside the operational loop — not a quarterly CSR report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Status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Now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Phase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3D data center rendering (React Three Fiber)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Simulation engine — 2s tick, 5 layers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Cross-layer dependency propagation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WebSocket live broadcast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Drift model + realistic fluctuation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Alert evaluation + threshold triggers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Recommendation engine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Tradeoff modal (enforced, non-bypassable)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Decision + acknowledgment logging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Layer sidebar + metrics top bar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42976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Scenario system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15544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 Real DCIM/BMS telemetry integration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18288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 Physics-based CFD thermal simulation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0" y="21031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 Per-GPU predictive degradation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23774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 Multi-site portfolio optimization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46320" y="26517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 Community-facing public dashboards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29260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 AI nutrition labels per query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column = functional, demoed live. Right column = roadmap, architecturally prepared.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E-Waste &amp; Digital Twins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1.2 - 5.0 Million Tons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e-waste by 2030 (Nature Computational Science, 2024)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obsolescence: 18-24 months (was 5yr)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Contains gold, copper, rare earths + toxins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could cut waste by 42%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2468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Twin Enables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Per-GPU thermal degradation tracking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smart, not fast — highest ROI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 economy: redeploy to lighter loads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3931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what-if: instant impact analysis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Digital Twins, Not Dashboards</a:t>
            </a:r>
            <a:endParaRPr lang="en-US" sz="3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Digital Twin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state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if CRAH-3 fails at 2 AM?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Physics simulation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Cross-layer deps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Siloed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 &gt; power &gt; cooling &gt; water &gt; community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Maintenance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Threshold alerts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 when GPU falls below floor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Sustainability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Historical reports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Simulate impact before committing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dashboard shows what IS. A digital twin shows what WILL BE.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Maintenance &gt; Predictive Sustainability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"When will it fail?"  &gt;  "When does it become unsustainable?"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57600" cy="502920"/>
          </a:xfrm>
          <a:prstGeom prst="rect">
            <a:avLst>
              <a:gd name="adj" fmla="val 18182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thermal degradation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0" y="18745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before efficiency drops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3657600" cy="502920"/>
          </a:xfrm>
          <a:prstGeom prst="rect">
            <a:avLst>
              <a:gd name="adj" fmla="val 18182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4688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 system wear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24688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before water/energy spikes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3657600" cy="502920"/>
          </a:xfrm>
          <a:prstGeom prst="rect">
            <a:avLst>
              <a:gd name="adj" fmla="val 18182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0632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PSU aging curves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30632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when efficiency &lt; 90%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611880"/>
            <a:ext cx="3657600" cy="502920"/>
          </a:xfrm>
          <a:prstGeom prst="rect">
            <a:avLst>
              <a:gd name="adj" fmla="val 18182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576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lifecycle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36576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least efficient first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1920240" cy="731520"/>
          </a:xfrm>
          <a:prstGeom prst="rect">
            <a:avLst>
              <a:gd name="adj" fmla="val 12500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22452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30-45%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46177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downtime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0" y="4206240"/>
            <a:ext cx="1920240" cy="731520"/>
          </a:xfrm>
          <a:prstGeom prst="rect">
            <a:avLst>
              <a:gd name="adj" fmla="val 12500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0" y="422452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20-25%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834640" y="46177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asset life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4206240"/>
            <a:ext cx="1920240" cy="731520"/>
          </a:xfrm>
          <a:prstGeom prst="rect">
            <a:avLst>
              <a:gd name="adj" fmla="val 12500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422452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25-30%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937760" y="46177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maint. cost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49440" y="4206240"/>
            <a:ext cx="1920240" cy="731520"/>
          </a:xfrm>
          <a:prstGeom prst="rect">
            <a:avLst>
              <a:gd name="adj" fmla="val 12500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422452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040880" y="46177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accuracy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NVIDIA Stack Powering This</a:t>
            </a:r>
            <a:endParaRPr lang="en-US" sz="3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Omniverse DSX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GW-scale AI factory digital twin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Unified facility simulation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DSX Boost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Max-Q efficiency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+30% throughput same power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DSX Flex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Grid demand balancing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GW underutilized capacity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DSX Exchange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IT/OT integration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APIs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Physics-informed NNs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10-100x faster than CFD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cuOpt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Workload placement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Carbon-aware scheduling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Earth-2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Climate simulation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1000x faster site planning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Operate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457200"/>
          </a:xfrm>
          <a:prstGeom prst="rect">
            <a:avLst>
              <a:gd name="adj" fmla="val 20000"/>
            </a:avLst>
          </a:prstGeom>
          <a:solidFill>
            <a:srgbClr val="141925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1234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 ·  Inference  ·  Training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1737360"/>
            <a:ext cx="6400800" cy="457200"/>
          </a:xfrm>
          <a:prstGeom prst="rect">
            <a:avLst>
              <a:gd name="adj" fmla="val 20000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17830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/ Compute — efficiency, thermal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2286000"/>
            <a:ext cx="6400800" cy="457200"/>
          </a:xfrm>
          <a:prstGeom prst="rect">
            <a:avLst>
              <a:gd name="adj" fmla="val 20000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2331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0" y="2331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 — water, energy, setpoints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2834640"/>
            <a:ext cx="6400800" cy="457200"/>
          </a:xfrm>
          <a:prstGeom prst="rect">
            <a:avLst>
              <a:gd name="adj" fmla="val 20000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2880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2880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— grid, carbon, renewables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71600" y="3383280"/>
            <a:ext cx="6400800" cy="457200"/>
          </a:xfrm>
          <a:prstGeom prst="rect">
            <a:avLst>
              <a:gd name="adj" fmla="val 20000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0" y="3429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28800" y="3429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Facility — community, justice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371600" y="3931920"/>
            <a:ext cx="6400800" cy="457200"/>
          </a:xfrm>
          <a:prstGeom prst="rect">
            <a:avLst>
              <a:gd name="adj" fmla="val 20000"/>
            </a:avLst>
          </a:prstGeom>
          <a:solidFill>
            <a:srgbClr val="141925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  ·  Silicon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Monitoring, what-if, tradeoff enforcement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 scheduling by carbon intensity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Energy-Efficient Data Center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digital twin validates before a dollar is spent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651760" cy="2560320"/>
          </a:xfrm>
          <a:prstGeom prst="rect">
            <a:avLst>
              <a:gd name="adj" fmla="val 3571"/>
            </a:avLst>
          </a:prstGeom>
          <a:solidFill>
            <a:srgbClr val="14192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liquid cooling: 45% PUE improvement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Zero-water designs (Microsoft 2026)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Immersion: 50% less cooling energy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737360"/>
            <a:ext cx="2651760" cy="2560320"/>
          </a:xfrm>
          <a:prstGeom prst="rect">
            <a:avLst>
              <a:gd name="adj" fmla="val 3571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22860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On-site renewable + storage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28346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Carbon-aware load balancing: 5-15% less carbon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33832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Micro-grid: decouple from stressed grids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2651760" cy="2560320"/>
          </a:xfrm>
          <a:prstGeom prst="rect">
            <a:avLst>
              <a:gd name="adj" fmla="val 3571"/>
            </a:avLst>
          </a:prstGeom>
          <a:solidFill>
            <a:srgbClr val="14192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22860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prefab: months not years (17.4% CAGR)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28346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heat reuse &gt; district heating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33832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Low-carbon materials, circular construction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twin tests all changes virtually — full sustainability tradeoff visibility before capital commitment.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Software Opportunity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TWh/year wasted globally ($9B)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PUE 1.58 vs. best 1.10 = 30% waste. 60-70% of the gap is software/ops.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7863840" cy="457200"/>
          </a:xfrm>
          <a:prstGeom prst="rect">
            <a:avLst>
              <a:gd name="adj" fmla="val 20000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606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ASHRAE cooling setpoints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2606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10-15% energy savings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7863840" cy="457200"/>
          </a:xfrm>
          <a:prstGeom prst="rect">
            <a:avLst>
              <a:gd name="adj" fmla="val 20000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154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cooling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3154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+5-10% additional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7863840" cy="457200"/>
          </a:xfrm>
          <a:prstGeom prst="rect">
            <a:avLst>
              <a:gd name="adj" fmla="val 20000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703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Carbon-aware scheduling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3703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5-15% carbon reduction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206240"/>
            <a:ext cx="7863840" cy="457200"/>
          </a:xfrm>
          <a:prstGeom prst="rect">
            <a:avLst>
              <a:gd name="adj" fmla="val 20000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251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zombie servers (30% idle)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4251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5-15% IT energy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Composite: 20-30% less energy, 25-40% less carbon — no hardware changes.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in the Real World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840480" cy="1371600"/>
          </a:xfrm>
          <a:prstGeom prst="rect">
            <a:avLst>
              <a:gd name="adj" fmla="val 6667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173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cooling energy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DeepMind (ML optimization)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3840480" cy="1371600"/>
          </a:xfrm>
          <a:prstGeom prst="rect">
            <a:avLst>
              <a:gd name="adj" fmla="val 6667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4173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50-60%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937760" y="1965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cooling cost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2240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ASHRAE setpoint optimization (zero capex)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3840480" cy="1371600"/>
          </a:xfrm>
          <a:prstGeom prst="rect">
            <a:avLst>
              <a:gd name="adj" fmla="val 6667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063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15-25%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914400" y="3611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operational cost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886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 deployments, 2 years (IDC 2024)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926080"/>
            <a:ext cx="3840480" cy="1371600"/>
          </a:xfrm>
          <a:prstGeom prst="rect">
            <a:avLst>
              <a:gd name="adj" fmla="val 6667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063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1.59&gt;1.48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937760" y="3611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 improvement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886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Equinix, 260+ facilities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we fixed just 5%?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7863840" cy="685800"/>
          </a:xfrm>
          <a:prstGeom prst="rect">
            <a:avLst>
              <a:gd name="adj" fmla="val 13333"/>
            </a:avLst>
          </a:prstGeom>
          <a:solidFill>
            <a:srgbClr val="14192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373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60320" y="17373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23-25 TWh/yr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0" y="17373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Ireland's annual consumption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7863840" cy="685800"/>
          </a:xfrm>
          <a:prstGeom prst="rect">
            <a:avLst>
              <a:gd name="adj" fmla="val 13333"/>
            </a:avLst>
          </a:prstGeom>
          <a:solidFill>
            <a:srgbClr val="14192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603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60320" y="25603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10-12.5M tonnes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0" y="25603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2.5M cars off the road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7863840" cy="685800"/>
          </a:xfrm>
          <a:prstGeom prst="rect">
            <a:avLst>
              <a:gd name="adj" fmla="val 13333"/>
            </a:avLst>
          </a:prstGeom>
          <a:solidFill>
            <a:srgbClr val="14192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3832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60320" y="3383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75-120B liters/yr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29200" y="33832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Drinking water for 1.5M people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7863840" cy="685800"/>
          </a:xfrm>
          <a:prstGeom prst="rect">
            <a:avLst>
              <a:gd name="adj" fmla="val 13333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206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560320" y="4206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$12.5-15B/yr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29200" y="4206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UN clean water initiative x 2 years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Regulatory Tailwind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Energy Efficiency Directive (2024)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389120" y="11887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reporting, all DCs &gt; 500 kW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7863840" cy="9144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Act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0" y="18288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energy disclosure required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7863840" cy="9144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89120" y="24688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 target 1.2 by 2027 (new builds)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7863840" cy="9144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— Oregon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0" y="31089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mandatory reporting state; SEC climate rule advancing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7863840" cy="9144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ETS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89120" y="37490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 80-100/tonne CO2 — inefficiency has a direct cost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Voluntary action window closing. Compliance tools become essential.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54864" cy="228600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18872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regulate factories that produce chemicals.</a:t>
            </a:r>
            <a:endParaRPr lang="en-US" sz="2600" dirty="0"/>
          </a:p>
          <a:p>
            <a:pPr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regulate factories that produce energy.</a:t>
            </a:r>
            <a:endParaRPr lang="en-US" sz="2600" dirty="0"/>
          </a:p>
          <a:p>
            <a:pPr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regulate factories that produce food.</a:t>
            </a:r>
            <a:endParaRPr lang="en-US" sz="2600" dirty="0"/>
          </a:p>
          <a:p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we not regulate factories</a:t>
            </a:r>
            <a:endParaRPr lang="en-US" sz="2600" dirty="0"/>
          </a:p>
          <a:p>
            <a:pPr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produce intelligence?"</a:t>
            </a:r>
            <a:endParaRPr lang="en-US" sz="2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Goes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325880"/>
            <a:ext cx="457200" cy="4572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54480" y="12801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telemetry — connect to DCIM/BMS (Schneider, Siemens)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33272" y="1783080"/>
            <a:ext cx="36576" cy="18288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19659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nutrition labels — "This response: 12ml water, 0.3g CO2"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33272" y="2468880"/>
            <a:ext cx="36576" cy="18288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697480"/>
            <a:ext cx="457200" cy="4572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26517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dashboards — public impact visibility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33272" y="3154680"/>
            <a:ext cx="36576" cy="18288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3383280"/>
            <a:ext cx="457200" cy="4572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33375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integration — auto-compliance for EU EED, AI Act, SEC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33272" y="3840480"/>
            <a:ext cx="36576" cy="18288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4069080"/>
            <a:ext cx="457200" cy="4572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54480" y="40233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Multi-site optimization — portfolio-level twin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 &amp; What We Learned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TypeScript monorepo — hackathon timeframe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3D digital twin: React Three Fiber + WebSocket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Cross-layer dependency modeling, 5 infrastructure layers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Ethics-first: tradeoff acknowledgment structurally enforced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sync was new territory — 60fps from 2s ticks was hardest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 harder than expected — full graph rethink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Ethics-first changed every architectural decision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2788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deep-dive: PUE, thermodynamics, environmental justice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hardest part isn't the technology — it's designing systems that refuse to let humans look away from consequences.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operational decision in an AI factory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carries a hidden cost.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2194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make it visible, quantifiable, and undeniable.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0" y="3017520"/>
            <a:ext cx="3657600" cy="27432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ShiftSC AI Ethics Hackathon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Names]  ·  [GitHub]  ·  [Contact]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Factory Digital Twin — Sustainable AI Framework</dc:title>
  <dc:subject>PptxGenJS Presentation</dc:subject>
  <dc:creator>AI Factory Digital Twin Team</dc:creator>
  <cp:lastModifiedBy>AI Factory Digital Twin Team</cp:lastModifiedBy>
  <cp:revision>1</cp:revision>
  <dcterms:created xsi:type="dcterms:W3CDTF">2026-04-13T00:05:01Z</dcterms:created>
  <dcterms:modified xsi:type="dcterms:W3CDTF">2026-04-13T00:05:01Z</dcterms:modified>
</cp:coreProperties>
</file>