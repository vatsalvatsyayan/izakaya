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Billion. Every Single Day.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371600" y="21945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 ·  Meta  ·  Amazon  ·  Google  ·  Oracle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center spend in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2026: nearly $2 billion/day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infrastructure buildout since the electric grid.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sustainable AI framework governs how it operates.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Factory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45720" cy="128016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9164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"Data centers are factories — AI factories that take in raw data and produce intelligence."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Jensen Huang, CEO, NVIDIA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token  →  a GPU  →  a rack  →  power from a grid  →  cooled by water  →  in someone's community.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the Buildout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$100B+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$52B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$175-185B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$120B+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$60-65B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$115-135B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$12-15B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$40B+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$355B+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$690-750B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Capex/sales 2026:  Oracle 86%  ·  Meta 54%  ·  Microsoft 47%  ·  Google 46%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Quadrupled since GPT-4. Aggregate capex now exceeds free cash flow.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Environmental Footprint of Computation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703320" cy="1371600"/>
          </a:xfrm>
          <a:prstGeom prst="rect">
            <a:avLst>
              <a:gd name="adj" fmla="val 5333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508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TWh/yr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1,000+ TWh by 2026 (more than Japan)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703320" cy="1371600"/>
          </a:xfrm>
          <a:prstGeom prst="rect">
            <a:avLst>
              <a:gd name="adj" fmla="val 5333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508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7830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5.6B gallons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alone, 2023. +17% YoY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703320" cy="1371600"/>
          </a:xfrm>
          <a:prstGeom prst="rect">
            <a:avLst>
              <a:gd name="adj" fmla="val 5333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54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290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60120" y="3931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emissions 2019–2023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703320" cy="1371600"/>
          </a:xfrm>
          <a:prstGeom prst="rect">
            <a:avLst>
              <a:gd name="adj" fmla="val 5333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315468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4290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1.2–5M tons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37760" y="3931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e-waste by 2030. GPU life: 18–24 months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 TWh/year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data center electricity consumption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Ireland: 21% of national electricity = data centers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443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AI query = 5–10x electricity of a Google search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2841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Utilities delaying coal plant retirements for DC demand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1246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1,000+ TWh by 2026 — more than Japan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 Billion Gallons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2023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GPT-4 prompts = 500ml water (one bottle)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9443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Dalles, OR (pop. 15K): Google uses 25–30% of city water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32841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Microsoft: +34% water since 2021.  Meta: +24%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3 hyperscalers pledged water reduction. All 3 went the opposite 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Emissions &amp; Hardware Waste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703320" cy="3017520"/>
          </a:xfrm>
          <a:prstGeom prst="rect">
            <a:avLst>
              <a:gd name="adj" fmla="val 2424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17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training: 5,000–10,000t CO₂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377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500 transatlantic flights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Google: +48% emissions (2019–23)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2918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60–70% of ML energy = inference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703320" cy="3017520"/>
          </a:xfrm>
          <a:prstGeom prst="rect">
            <a:avLst>
              <a:gd name="adj" fmla="val 2424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17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e-waste: 1.2–5M tons by 2030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obsolescence: 18–24 months (was 5yr)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8346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rare earths, gold, lead, mercury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32918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Cobalt/lithium mining: child labor, toxic runoff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 the Price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703320" cy="2743200"/>
          </a:xfrm>
          <a:prstGeom prst="rect">
            <a:avLst>
              <a:gd name="adj" fmla="val 2667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17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William County, VA: displaced Black/Latino neighborhoods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377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Chicago: DC-adjacent = 23% lower income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28346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$500M+ facility → 30–50 permanent jobs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32918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Virginia: $750M tax breaks — lowest job-to-subsidy ratio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703320" cy="2743200"/>
          </a:xfrm>
          <a:prstGeom prst="rect">
            <a:avLst>
              <a:gd name="adj" fmla="val 2667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417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Cobalt (DRC): child labor, deforestation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377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Lithium (Chile): depleting driest aquifers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8346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exported to Ghana, Nigeria, India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2918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DCs compete with agriculture in drought regions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borne at every stage: extraction → operation → disposal. Upside rarely shared.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Gets Worse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capable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0" y="14630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29000" y="137160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users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14630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137160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inference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37744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data centers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29000" y="237744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electricity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5000" y="246888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0" y="237744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42316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water &amp; carbon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38328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429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worsens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47472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29000" y="338328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429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AI climate solutions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347472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0" y="3383280"/>
            <a:ext cx="228600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4290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compute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75320" y="20574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75320" y="30632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 year facility lifetimes. Decisions made now = emissions through 2050.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Are Flying Blind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097280" y="22860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data lives in annual reports and disconnected dashboards.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 the operational loop. Never at the moment of decision.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0" y="3337560"/>
            <a:ext cx="365760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5204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can't optimize what you can't see.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be accountable for what you don't acknowledge."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sustainable AI framework for the AI factory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Sustainable AI Framework for the AI Factory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3D digital twin. Makes the environmental footprint of computation visible, quantifiable, and non-dismissable.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7680960" cy="594360"/>
          </a:xfrm>
          <a:prstGeom prst="rect">
            <a:avLst>
              <a:gd name="adj" fmla="val 12308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916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Infrastructure Layers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69164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·  Cooling  ·  GPU  ·  Workload  ·  Location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59152"/>
            <a:ext cx="7680960" cy="594360"/>
          </a:xfrm>
          <a:prstGeom prst="rect">
            <a:avLst>
              <a:gd name="adj" fmla="val 12308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048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Simulation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40487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WebSocket-driven, 2-second updates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072384"/>
            <a:ext cx="7680960" cy="594360"/>
          </a:xfrm>
          <a:prstGeom prst="rect">
            <a:avLst>
              <a:gd name="adj" fmla="val 12308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181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Scenarios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11810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decisions before committing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85616"/>
            <a:ext cx="7680960" cy="594360"/>
          </a:xfrm>
          <a:prstGeom prst="rect">
            <a:avLst>
              <a:gd name="adj" fmla="val 12308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3133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Tradeoff Gate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83133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requires sustainability acknowledgment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Operator Journey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twin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metrics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146304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83080" y="23774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drops,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spikes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0" y="146304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92608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3774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6908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9080" y="23774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0" y="146304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1208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3774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29400" y="14630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35508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23774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modal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0" y="1463040"/>
            <a:ext cx="457200" cy="45720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9808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0" y="237744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stored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3840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703320" cy="2468880"/>
          </a:xfrm>
          <a:prstGeom prst="rect">
            <a:avLst>
              <a:gd name="adj" fmla="val 2963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371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Engine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084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 loop (2s)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3865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688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dependencies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9900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80560" y="182880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(2s)  →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2560320"/>
            <a:ext cx="18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REST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280160"/>
            <a:ext cx="3703320" cy="2468880"/>
          </a:xfrm>
          <a:prstGeom prst="rect">
            <a:avLst>
              <a:gd name="adj" fmla="val 2963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71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1783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084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Three Fiber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23865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Scene + Health colors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74920" y="26883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60fps interpolation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9900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Ethical Gate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291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Tradeoff modal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7680960" cy="411480"/>
          </a:xfrm>
          <a:prstGeom prst="rect">
            <a:avLst>
              <a:gd name="adj" fmla="val 17778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9593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Types (single source of truth)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monorepo  ·  Node/Express  ·  React/Three.js  ·  Zustand  ·  WebSocket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77440" cy="2194560"/>
          </a:xfrm>
          <a:prstGeom prst="rect">
            <a:avLst>
              <a:gd name="adj" fmla="val 3333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971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3D twin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metrics across 5 layers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377440" cy="2194560"/>
          </a:xfrm>
          <a:prstGeom prst="rect">
            <a:avLst>
              <a:gd name="adj" fmla="val 3333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6459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20440" y="2971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sustainability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acknowledgment before any 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377440" cy="2194560"/>
          </a:xfrm>
          <a:prstGeom prst="rect">
            <a:avLst>
              <a:gd name="adj" fmla="val 3333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4592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0" y="29718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dependencies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scenario simulation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actual screenshots before presenting. Judges score Design (15%) on visual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— Built In, Not Bolted 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1005840"/>
          </a:xfrm>
          <a:prstGeom prst="rect">
            <a:avLst>
              <a:gd name="adj" fmla="val 7273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173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cooling setpoints  →  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"Saves 12% energy ($340K/yr), but increases water consumption 8% in drought-stressed region"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680960" cy="1005840"/>
          </a:xfrm>
          <a:prstGeom prst="rect">
            <a:avLst>
              <a:gd name="adj" fmla="val 7273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0604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workload to cheaper grid  →  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"Saves $18K/month, but increases carbon intensity 34% = 200 additional cars/year"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must acknowledge before commit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+ acknowledgment permanently logged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sustainability framework inside the operational loop — not a quarterly CSR report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Status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Working Now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09160" y="1188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Next Phase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36192"/>
            <a:ext cx="3703320" cy="1828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1536192"/>
            <a:ext cx="3703320" cy="18288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3D data center rendering (React Three Fiber)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190195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Simulation engine — 2s tick, 5 layers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15798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Cross-layer dependency propagation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41401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WebSocket live broadcast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67004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Drift model + realistic fluctuation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Alert evaluation + threshold triggers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18211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Recommendation engine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43814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Tradeoff modal (enforced, non-bypassable)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69417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Decision + acknowledgment logging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395020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Layer sidebar + metrics top bar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Scenario system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164592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Real DCIM/BMS telemetry integration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190195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Physics-based CFD thermal simulation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15798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Per-GPU predictive degradation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241401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Multi-site portfolio optimization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267004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Community-facing public dashboards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09160" y="292608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nutrition labels per query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column = functional, demoed live. Right column = roadmap, architecturally prepared.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Twins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dashboards — simulate, predict, prevent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&amp; Digital Twins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– 5.0 Million Tons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e-waste by 2030 (Nature Computational Science, 2024)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obsolescence: 18–24 months (was 5yr)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6440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gold, copper, rare earths + toxins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484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could cut waste by 42%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24688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Twin Enables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2880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Per-GPU thermal degradation tracking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326440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smart, not fast — highest ROI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6484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economy: redeploy to lighter loads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40325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what-if: instant impact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Digital Twins, Not Dashboards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35661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Digital Twin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if CRAH-3 fails at 2 AM?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Physics simulation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Cross-layer deps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Siloed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→ power → cooling → water → community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Maintenance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 alerts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when GPU falls below floor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Sustainability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6B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Historical reports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 impact before committing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shows what IS.  A digital twin shows what WILL BE.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→ Predictive Sustainability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will it fail?"  →  "When does it become unsustainable?"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703320" cy="475488"/>
          </a:xfrm>
          <a:prstGeom prst="rect">
            <a:avLst>
              <a:gd name="adj" fmla="val 15385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73352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thermal degradation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09160" y="1673352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Replace before efficiency drops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12848"/>
            <a:ext cx="3703320" cy="475488"/>
          </a:xfrm>
          <a:prstGeom prst="rect">
            <a:avLst>
              <a:gd name="adj" fmla="val 15385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40280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system wear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2240280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Maintain before water/energy spikes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779776"/>
            <a:ext cx="3703320" cy="475488"/>
          </a:xfrm>
          <a:prstGeom prst="rect">
            <a:avLst>
              <a:gd name="adj" fmla="val 15385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07208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PSU aging curves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2807208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Swap when efficiency &lt; 90%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346704"/>
            <a:ext cx="3703320" cy="475488"/>
          </a:xfrm>
          <a:prstGeom prst="rect">
            <a:avLst>
              <a:gd name="adj" fmla="val 15385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74136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lifecycle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3374136"/>
            <a:ext cx="3703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Replace least efficient first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714500" cy="731520"/>
          </a:xfrm>
          <a:prstGeom prst="rect">
            <a:avLst>
              <a:gd name="adj" fmla="val 1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133088"/>
            <a:ext cx="1531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downtime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20340" y="4114800"/>
            <a:ext cx="1714500" cy="731520"/>
          </a:xfrm>
          <a:prstGeom prst="rect">
            <a:avLst>
              <a:gd name="adj" fmla="val 1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1780" y="4133088"/>
            <a:ext cx="1531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20-25%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811780" y="4526280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asset life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4114800"/>
            <a:ext cx="1714500" cy="731520"/>
          </a:xfrm>
          <a:prstGeom prst="rect">
            <a:avLst>
              <a:gd name="adj" fmla="val 1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133088"/>
            <a:ext cx="1531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25-30%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00600" y="4526280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maint. cost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97980" y="4114800"/>
            <a:ext cx="1714500" cy="731520"/>
          </a:xfrm>
          <a:prstGeom prst="rect">
            <a:avLst>
              <a:gd name="adj" fmla="val 10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9420" y="4133088"/>
            <a:ext cx="15316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89420" y="4526280"/>
            <a:ext cx="1531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NVIDIA Stack Powering This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430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Omniverse DSX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GW-scale AI factory digital twin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facility simulation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DSX Boost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Max-Q 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 throughput same power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DSX Flex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demand balancing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GW underutilized capacity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DSX Exchange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IT/OT integration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APIs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Physics-informed NNs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10-100x faster than CFD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cuOpt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Workload placement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Carbon-aware scheduling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Earth-2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Climate simulation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E5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1000x faster site planning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1F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E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Operate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640080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316736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 ·  Inference  ·  Training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810512"/>
            <a:ext cx="640080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8470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74520" y="1847088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/ Compute — efficiency, thermal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340864"/>
            <a:ext cx="640080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4520" y="2377440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— water, energy, setpoints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871216"/>
            <a:ext cx="640080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90779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2907792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— grid, carbon, renewables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401568"/>
            <a:ext cx="640080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43814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74520" y="3438144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 — community, justice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3931920"/>
            <a:ext cx="640080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968496"/>
            <a:ext cx="5715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 ·  Silicon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663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Monitoring, what-if, tradeoff enforcement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4389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4663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scheduling by carbon intensity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Proof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numbers from real deployments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Energy-Efficient Data Center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digital twin validates before a dollar is spent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38400" cy="2560320"/>
          </a:xfrm>
          <a:prstGeom prst="rect">
            <a:avLst>
              <a:gd name="adj" fmla="val 3000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liquid cooling: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PUE improvement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Zero-water designs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(Microsoft 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Immersion: 50% less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energy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2800" y="1645920"/>
            <a:ext cx="2438400" cy="2560320"/>
          </a:xfrm>
          <a:prstGeom prst="rect">
            <a:avLst>
              <a:gd name="adj" fmla="val 3000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5680" y="173736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81400" y="219456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On-site renewable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storage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81400" y="283464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Carbon-aware load balancing: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5-15% less carbon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1400" y="347472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Micro-grid: decouple from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stressed grids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74080" y="1645920"/>
            <a:ext cx="2438400" cy="2560320"/>
          </a:xfrm>
          <a:prstGeom prst="rect">
            <a:avLst>
              <a:gd name="adj" fmla="val 3000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6960" y="1737360"/>
            <a:ext cx="207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02680" y="219456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prefab: months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years (17.4% CAGR)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02680" y="283464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heat reuse →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heating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2680" y="3474720"/>
            <a:ext cx="198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Low-carbon materials,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circular construction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twin tests all changes virtually — full sustainability tradeoff visibility before capital commitment.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Software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TWh/year wasted globally ($9B)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PUE 1.58 vs. best 1.10 = 30% waste. 60–70% of the gap is software/ops.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768096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57860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ASHRAE cooling setpoints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20640" y="257860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10–15% energy savings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90672"/>
            <a:ext cx="768096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108960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cooling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31089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+5–10% additional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21024"/>
            <a:ext cx="768096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3931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Carbon-aware scheduling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363931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5–15% carbon reduction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151376"/>
            <a:ext cx="7680960" cy="438912"/>
          </a:xfrm>
          <a:prstGeom prst="rect">
            <a:avLst>
              <a:gd name="adj" fmla="val 16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169664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zombie servers (30% idle)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416966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5–15% IT energy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Composite: 20–30% less energy, 25–40% less carbon — no hardware changes.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 the Real World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703320" cy="1371600"/>
          </a:xfrm>
          <a:prstGeom prst="rect">
            <a:avLst>
              <a:gd name="adj" fmla="val 5333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087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05840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cooling energy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DeepMind (ML optimization)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703320" cy="1371600"/>
          </a:xfrm>
          <a:prstGeom prst="rect">
            <a:avLst>
              <a:gd name="adj" fmla="val 5333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5087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983480" y="20574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cooling cost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23317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ASHRAE setpoint optimization (zero capex)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703320" cy="1371600"/>
          </a:xfrm>
          <a:prstGeom prst="rect">
            <a:avLst>
              <a:gd name="adj" fmla="val 5333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1546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15-25%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operational cost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deployments, 2 years (IDC 2024)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017520"/>
            <a:ext cx="3703320" cy="1371600"/>
          </a:xfrm>
          <a:prstGeom prst="rect">
            <a:avLst>
              <a:gd name="adj" fmla="val 5333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1546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1.59→1.48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983480" y="3703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 improvement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9776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Equinix, 260+ facilities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we fixed just 5%?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768096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7190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0" y="17190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23–25 TWh/yr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212080" y="171907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Ireland's annual consumption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50592"/>
            <a:ext cx="768096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52374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25237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10–12.5M tonnes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212080" y="252374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2.5M cars off the road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255264"/>
            <a:ext cx="768096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284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743200" y="33284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75–120B liters/yr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332841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Drinking water for 1.5M people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059936"/>
            <a:ext cx="7680960" cy="685800"/>
          </a:xfrm>
          <a:prstGeom prst="rect">
            <a:avLst>
              <a:gd name="adj" fmla="val 10667"/>
            </a:avLst>
          </a:prstGeom>
          <a:solidFill>
            <a:srgbClr val="141925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13308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43200" y="41330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$12.5–15B/yr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41330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 UN clean water initiative × 2 years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011680"/>
            <a:ext cx="22860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Close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tailwinds, vision, and what we learned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Regulatory Tailwind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Energy Efficiency Directive (2024)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09160" y="12801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reporting, all DCs &gt; 500 kW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9144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019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1901952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energy disclosure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59152"/>
            <a:ext cx="7680960" cy="9144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2374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2523744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 target 1.2 by 2027 (new builds)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980944"/>
            <a:ext cx="7680960" cy="9144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4553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— Oregon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3145536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mandatory reporting state; SEC climate rule advancing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02736"/>
            <a:ext cx="7680960" cy="9144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6732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3767328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€80–100/tonne CO₂ — inefficiency has a direct cost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action window closing. Compliance tools become essential.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54864" cy="22860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188720"/>
            <a:ext cx="7132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regulate factories that produce chemicals.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regulate factories that produce energy.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regulate factories that produce food.</a:t>
            </a:r>
            <a:endParaRPr lang="en-US" sz="2600" dirty="0"/>
          </a:p>
          <a:p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not regulate factories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produce intelligence?"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444752"/>
            <a:ext cx="411480" cy="4114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44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telemetry — connect to DCIM/BMS (Schneider, Siemens)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10412" y="1856232"/>
            <a:ext cx="36576" cy="16459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03120"/>
            <a:ext cx="411480" cy="4114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029968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nutrition labels — "This response: 12ml water, 0.3g CO₂"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10412" y="2514600"/>
            <a:ext cx="36576" cy="16459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761488"/>
            <a:ext cx="411480" cy="4114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614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688336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dashboards — public impact visibility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10412" y="3172968"/>
            <a:ext cx="36576" cy="16459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419856"/>
            <a:ext cx="411480" cy="4114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346704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integration — auto-compliance for EU EED, AI Act, SEC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10412" y="3831336"/>
            <a:ext cx="36576" cy="164592"/>
          </a:xfrm>
          <a:prstGeom prst="rect">
            <a:avLst/>
          </a:prstGeom>
          <a:solidFill>
            <a:srgbClr val="1A1F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078224"/>
            <a:ext cx="411480" cy="4114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782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3040" y="4005072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optimization — portfolio-level twin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&amp; What We Learned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371600" cy="1828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TypeScript monorepo — hackathon timeframe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3D digital twin: React Three Fiber + WebSocket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Cross-layer dependency modeling, 5 infrastructure layers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80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Ethics-first: tradeoff acknowledgment structurally enforced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118872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09160" y="1536192"/>
            <a:ext cx="1371600" cy="1828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sync was new territory — 60fps from 2s ticks was hardest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harder than expected — full graph rethink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4688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Ethics-first changed every architectural decision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8803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deep-dive: PUE, thermodynamics, environmental justice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part isn't the technology — it's designing systems that refuse to let humans look away from consequences.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operational decision in an AI factory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carries a hidden cost.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it visible, quantifiable, and undeniable.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0" y="3200400"/>
            <a:ext cx="3291840" cy="27432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ShiftSC AI Ethics Hackathon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Names]  ·  [GitHub]  ·  [Contact]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IEA 2024  ·  Goldman Sachs 2024  ·  McKinsey 2024  ·  Nature Computational Science 2024  ·  Ren et al. 2023  ·  Google/Microsoft/Meta Environmental Reports 2023-24  ·  Futurum "AI Capex 2026"  ·  Epoch AI  ·  NVIDIA GTC 2024/CES 2025  ·  Omniverse DSX Blueprint (Oct 2025)  ·  Vera Rubin DSX (2026)  ·  Schneider+NVIDIA (Oct 2025)  ·  ETAP (Mar 2025)  ·  EU Directive 2023/1791  ·  Uptime Institute 2023  ·  IDC 2024  ·  DeepMind 2016/2018  ·  Good Jobs First  ·  Crawford, Atlas of AI (2021)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Factory Digital Twin — Sustainable AI Framework</dc:title>
  <dc:subject>PptxGenJS Presentation</dc:subject>
  <dc:creator>AI Factory Digital Twin Team</dc:creator>
  <cp:lastModifiedBy>AI Factory Digital Twin Team</cp:lastModifiedBy>
  <cp:revision>1</cp:revision>
  <dcterms:created xsi:type="dcterms:W3CDTF">2026-04-13T00:23:04Z</dcterms:created>
  <dcterms:modified xsi:type="dcterms:W3CDTF">2026-04-13T00:23:04Z</dcterms:modified>
</cp:coreProperties>
</file>